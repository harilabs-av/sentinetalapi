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0"/>
            <a:ext cx="685800" cy="18288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920240" y="5943600"/>
            <a:ext cx="685800" cy="18288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37560" y="5943600"/>
            <a:ext cx="685800" cy="18288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0" y="5943600"/>
            <a:ext cx="685800" cy="18288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0" y="5943600"/>
            <a:ext cx="685800" cy="18288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5943600"/>
            <a:ext cx="685800" cy="18288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06840" y="5943600"/>
            <a:ext cx="685800" cy="18288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24160" y="5943600"/>
            <a:ext cx="685800" cy="18288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41480" y="5943600"/>
            <a:ext cx="685800" cy="18288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02920"/>
            <a:ext cx="109728" cy="5074920"/>
          </a:xfrm>
          <a:prstGeom prst="rect">
            <a:avLst/>
          </a:prstGeom>
          <a:solidFill>
            <a:srgbClr val="FF66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entagon 11"/>
          <p:cNvSpPr/>
          <p:nvPr/>
        </p:nvSpPr>
        <p:spPr>
          <a:xfrm>
            <a:off x="914400" y="1005840"/>
            <a:ext cx="914400" cy="987552"/>
          </a:xfrm>
          <a:prstGeom prst="homePlate">
            <a:avLst/>
          </a:prstGeom>
          <a:solidFill>
            <a:srgbClr val="46CFD6"/>
          </a:solidFill>
          <a:ln>
            <a:solidFill>
              <a:srgbClr val="46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entagon 12"/>
          <p:cNvSpPr/>
          <p:nvPr/>
        </p:nvSpPr>
        <p:spPr>
          <a:xfrm>
            <a:off x="1060704" y="1152144"/>
            <a:ext cx="621792" cy="658368"/>
          </a:xfrm>
          <a:prstGeom prst="homePlate">
            <a:avLst/>
          </a:prstGeom>
          <a:solidFill>
            <a:srgbClr val="081223"/>
          </a:solidFill>
          <a:ln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127101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46CFD6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987552"/>
            <a:ext cx="38404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F6633"/>
                </a:solidFill>
                <a:latin typeface="Aptos Mono"/>
              </a:rPr>
              <a:t>SENTINEL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987552"/>
            <a:ext cx="1097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5F8FC"/>
                </a:solidFill>
                <a:latin typeface="Aptos Mono"/>
              </a:rPr>
              <a:t>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21408" y="1444752"/>
            <a:ext cx="1965960" cy="256032"/>
          </a:xfrm>
          <a:prstGeom prst="roundRect">
            <a:avLst/>
          </a:prstGeom>
          <a:solidFill>
            <a:srgbClr val="FFB84D"/>
          </a:solidFill>
          <a:ln w="889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76272" y="1476756"/>
            <a:ext cx="1856231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223"/>
                </a:solidFill>
                <a:latin typeface="Aptos Mono"/>
              </a:rPr>
              <a:t>AMITYHACKS • PS-3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965960"/>
            <a:ext cx="704088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F5F8FC"/>
                </a:solidFill>
                <a:latin typeface="Aptos"/>
              </a:rPr>
              <a:t>Runtime Zero-Trust
API Security Auditor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273552"/>
            <a:ext cx="6217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CFD6"/>
                </a:solidFill>
                <a:latin typeface="Aptos"/>
              </a:rPr>
              <a:t>Discover. Test. Explain. Remediate.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22191"/>
            <a:ext cx="59893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A3B5CC"/>
                </a:solidFill>
                <a:latin typeface="Aptos"/>
              </a:rPr>
              <a:t>A bounded, explainable scanner for authorization failures and sensitive data exposure — built for authorized API sandboxes.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914400"/>
            <a:ext cx="3246120" cy="438912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0D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23960" y="1417320"/>
            <a:ext cx="1417320" cy="1417320"/>
          </a:xfrm>
          <a:prstGeom prst="ellipse">
            <a:avLst/>
          </a:prstGeom>
          <a:solidFill>
            <a:srgbClr val="FF6633"/>
          </a:solidFill>
          <a:ln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51518" y="1544878"/>
            <a:ext cx="1162202" cy="1162202"/>
          </a:xfrm>
          <a:prstGeom prst="ellipse">
            <a:avLst/>
          </a:prstGeom>
          <a:solidFill>
            <a:srgbClr val="081223"/>
          </a:solidFill>
          <a:ln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79077" y="1672437"/>
            <a:ext cx="907084" cy="907084"/>
          </a:xfrm>
          <a:prstGeom prst="ellipse">
            <a:avLst/>
          </a:prstGeom>
          <a:solidFill>
            <a:srgbClr val="FF6633"/>
          </a:solidFill>
          <a:ln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2463" y="1785823"/>
            <a:ext cx="680313" cy="680313"/>
          </a:xfrm>
          <a:prstGeom prst="ellipse">
            <a:avLst/>
          </a:prstGeom>
          <a:solidFill>
            <a:srgbClr val="081223"/>
          </a:solidFill>
          <a:ln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entagon 26"/>
          <p:cNvSpPr/>
          <p:nvPr/>
        </p:nvSpPr>
        <p:spPr>
          <a:xfrm>
            <a:off x="9784080" y="2743200"/>
            <a:ext cx="868680" cy="938174"/>
          </a:xfrm>
          <a:prstGeom prst="homePlate">
            <a:avLst/>
          </a:prstGeom>
          <a:solidFill>
            <a:srgbClr val="46CFD6"/>
          </a:solidFill>
          <a:ln>
            <a:solidFill>
              <a:srgbClr val="46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entagon 27"/>
          <p:cNvSpPr/>
          <p:nvPr/>
        </p:nvSpPr>
        <p:spPr>
          <a:xfrm>
            <a:off x="9923068" y="2882188"/>
            <a:ext cx="590702" cy="625449"/>
          </a:xfrm>
          <a:prstGeom prst="homePlate">
            <a:avLst/>
          </a:prstGeom>
          <a:solidFill>
            <a:srgbClr val="081223"/>
          </a:solidFill>
          <a:ln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8623" y="2995117"/>
            <a:ext cx="390906" cy="243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14" b="1" i="0">
                <a:solidFill>
                  <a:srgbClr val="46CFD6"/>
                </a:solidFill>
                <a:latin typeface="Aptos"/>
              </a:rPr>
              <a:t>✓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28048" y="2724912"/>
            <a:ext cx="484632" cy="274320"/>
          </a:xfrm>
          <a:prstGeom prst="line">
            <a:avLst/>
          </a:prstGeom>
          <a:ln w="25400">
            <a:solidFill>
              <a:srgbClr val="46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66760" y="3913632"/>
            <a:ext cx="2194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B84D"/>
                </a:solidFill>
                <a:latin typeface="Aptos Mono"/>
              </a:rPr>
              <a:t>OPENAPI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270248"/>
            <a:ext cx="2697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 Mono"/>
              </a:rPr>
              <a:t>→  dual identity  → 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4" y="4718304"/>
            <a:ext cx="248716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A3B5CC"/>
                </a:solidFill>
                <a:latin typeface="Aptos"/>
              </a:rPr>
              <a:t>Evidence-first security
for student innovation demos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660196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A3B5CC"/>
                </a:solidFill>
                <a:latin typeface="Aptos Mono"/>
              </a:rPr>
              <a:t>AMITYHACKS  •  SENTINELAPI  •  DEMO 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6601968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FFB84D"/>
                </a:solidFill>
                <a:latin typeface="Aptos Mono"/>
              </a:rPr>
              <a:t>AUTHORIZED SANDBOX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6633"/>
                </a:solidFill>
                <a:latin typeface="Aptos Mono"/>
              </a:rPr>
              <a:t>01 •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APIs fail at the authorization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88136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A3B5CC"/>
                </a:solidFill>
                <a:latin typeface="Aptos"/>
              </a:rPr>
              <a:t>A security gap can look like a normal 200 OK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97280" cy="41148"/>
          </a:xfrm>
          <a:prstGeom prst="rect">
            <a:avLst/>
          </a:prstGeom>
          <a:solidFill>
            <a:srgbClr val="FF66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A3B5CC"/>
                </a:solidFill>
                <a:latin typeface="Aptos Mon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60196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A3B5CC"/>
                </a:solidFill>
                <a:latin typeface="Aptos Mono"/>
              </a:rPr>
              <a:t>AMITYHACKS  •  API SECURITY  •  SENTINELAPI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601968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FFB84D"/>
                </a:solidFill>
                <a:latin typeface="Aptos Mono"/>
              </a:rPr>
              <a:t>AUTHORIZED SANDBOX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3429000" cy="30632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54864" cy="3063240"/>
          </a:xfrm>
          <a:prstGeom prst="roundRect">
            <a:avLst/>
          </a:prstGeom>
          <a:solidFill>
            <a:srgbClr val="EF5B5B"/>
          </a:solidFill>
          <a:ln w="889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" y="2084832"/>
            <a:ext cx="347472" cy="347472"/>
          </a:xfrm>
          <a:prstGeom prst="ellipse">
            <a:avLst/>
          </a:prstGeom>
          <a:solidFill>
            <a:srgbClr val="EF5B5B"/>
          </a:solidFill>
          <a:ln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5944" y="2116104"/>
            <a:ext cx="284927" cy="284927"/>
          </a:xfrm>
          <a:prstGeom prst="ellipse">
            <a:avLst/>
          </a:prstGeom>
          <a:solidFill>
            <a:srgbClr val="081223"/>
          </a:solidFill>
          <a:ln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7216" y="2147376"/>
            <a:ext cx="222382" cy="222382"/>
          </a:xfrm>
          <a:prstGeom prst="ellipse">
            <a:avLst/>
          </a:prstGeom>
          <a:solidFill>
            <a:srgbClr val="EF5B5B"/>
          </a:solidFill>
          <a:ln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5014" y="2175174"/>
            <a:ext cx="166786" cy="166786"/>
          </a:xfrm>
          <a:prstGeom prst="ellipse">
            <a:avLst/>
          </a:prstGeom>
          <a:solidFill>
            <a:srgbClr val="081223"/>
          </a:solidFill>
          <a:ln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07592" y="2029968"/>
            <a:ext cx="2487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BOLA / IDOR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2359152"/>
            <a:ext cx="2441448" cy="2423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A3B5CC"/>
                </a:solidFill>
                <a:latin typeface="Aptos"/>
              </a:rPr>
              <a:t>A second identity can access another user’s object when object ownership is not enforced.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828800"/>
            <a:ext cx="3429000" cy="30632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1828800"/>
            <a:ext cx="54864" cy="3063240"/>
          </a:xfrm>
          <a:prstGeom prst="roundRect">
            <a:avLst/>
          </a:prstGeom>
          <a:solidFill>
            <a:srgbClr val="FFB84D"/>
          </a:solidFill>
          <a:ln w="889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99432" y="2084832"/>
            <a:ext cx="250179" cy="146304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99432" y="2157984"/>
            <a:ext cx="250179" cy="201168"/>
          </a:xfrm>
          <a:prstGeom prst="rect">
            <a:avLst/>
          </a:prstGeom>
          <a:solidFill>
            <a:srgbClr val="FFB84D"/>
          </a:solidFill>
          <a:ln w="889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99432" y="2286000"/>
            <a:ext cx="250179" cy="146304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2331720"/>
            <a:ext cx="2501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81223"/>
                </a:solidFill>
                <a:latin typeface="Aptos Mono"/>
              </a:rPr>
              <a:t>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2029968"/>
            <a:ext cx="2487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Excessive 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2359152"/>
            <a:ext cx="2441448" cy="2423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A3B5CC"/>
                </a:solidFill>
                <a:latin typeface="Aptos"/>
              </a:rPr>
              <a:t>Responses reveal fields such as passwordHash, internal identifiers, or other sensitive attributes.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1828800"/>
            <a:ext cx="3429000" cy="30632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83879" y="1828800"/>
            <a:ext cx="54864" cy="3063240"/>
          </a:xfrm>
          <a:prstGeom prst="roundRect">
            <a:avLst/>
          </a:prstGeom>
          <a:solidFill>
            <a:srgbClr val="46CFD6"/>
          </a:solidFill>
          <a:ln w="8890">
            <a:solidFill>
              <a:srgbClr val="46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entagon 27"/>
          <p:cNvSpPr/>
          <p:nvPr/>
        </p:nvSpPr>
        <p:spPr>
          <a:xfrm>
            <a:off x="8394192" y="2084832"/>
            <a:ext cx="347472" cy="375269"/>
          </a:xfrm>
          <a:prstGeom prst="homePlate">
            <a:avLst/>
          </a:prstGeom>
          <a:solidFill>
            <a:srgbClr val="46CFD6"/>
          </a:solidFill>
          <a:ln>
            <a:solidFill>
              <a:srgbClr val="46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entagon 28"/>
          <p:cNvSpPr/>
          <p:nvPr/>
        </p:nvSpPr>
        <p:spPr>
          <a:xfrm>
            <a:off x="8449787" y="2140427"/>
            <a:ext cx="236280" cy="250179"/>
          </a:xfrm>
          <a:prstGeom prst="homePlate">
            <a:avLst/>
          </a:prstGeom>
          <a:solidFill>
            <a:srgbClr val="081223"/>
          </a:solidFill>
          <a:ln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88009" y="2185598"/>
            <a:ext cx="156362" cy="972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6" b="1" i="0">
                <a:solidFill>
                  <a:srgbClr val="46CFD6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1" y="2029968"/>
            <a:ext cx="2487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Evidence gap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7111" y="2359152"/>
            <a:ext cx="2441448" cy="2423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A3B5CC"/>
                </a:solidFill>
                <a:latin typeface="Aptos"/>
              </a:rPr>
              <a:t>Teams need reproducible proof, severity, confidence, and a safe path to fix—not a vague alert.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85232"/>
            <a:ext cx="1920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6633"/>
                </a:solidFill>
                <a:latin typeface="Aptos Mono"/>
              </a:rPr>
              <a:t>Core design principle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2032" y="5230368"/>
            <a:ext cx="6126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The scanner establishes the finding. AI explains the finding.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6633"/>
                </a:solidFill>
                <a:latin typeface="Aptos Mono"/>
              </a:rPr>
              <a:t>02 •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SentinelAPI turns runtime behavior into a security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88136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A3B5CC"/>
                </a:solidFill>
                <a:latin typeface="Aptos"/>
              </a:rPr>
              <a:t>A focused MVP with clear boundaries and reproducible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97280" cy="41148"/>
          </a:xfrm>
          <a:prstGeom prst="rect">
            <a:avLst/>
          </a:prstGeom>
          <a:solidFill>
            <a:srgbClr val="FF66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A3B5CC"/>
                </a:solidFill>
                <a:latin typeface="Aptos Mono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60196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A3B5CC"/>
                </a:solidFill>
                <a:latin typeface="Aptos Mono"/>
              </a:rPr>
              <a:t>AMITYHACKS  •  API SECURITY  •  SENTINELAPI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601968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FFB84D"/>
                </a:solidFill>
                <a:latin typeface="Aptos Mono"/>
              </a:rPr>
              <a:t>AUTHORIZED SANDBOX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2331720" cy="21488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194560"/>
            <a:ext cx="3200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CFD6"/>
                </a:solidFill>
                <a:latin typeface="Aptos Mono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" y="2578608"/>
            <a:ext cx="502920" cy="36576"/>
          </a:xfrm>
          <a:prstGeom prst="rect">
            <a:avLst/>
          </a:prstGeom>
          <a:solidFill>
            <a:srgbClr val="46CFD6"/>
          </a:solidFill>
          <a:ln w="8890">
            <a:solidFill>
              <a:srgbClr val="46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816352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 Mono"/>
              </a:rPr>
              <a:t>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24612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3B5CC"/>
                </a:solidFill>
                <a:latin typeface="Aptos"/>
              </a:rPr>
              <a:t>OpenAPI / Swagger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35808" y="3035808"/>
            <a:ext cx="256032" cy="0"/>
          </a:xfrm>
          <a:prstGeom prst="line">
            <a:avLst/>
          </a:prstGeom>
          <a:ln w="20320">
            <a:solidFill>
              <a:srgbClr val="46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29000" y="1965960"/>
            <a:ext cx="2331720" cy="21488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194560"/>
            <a:ext cx="3200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B84D"/>
                </a:solidFill>
                <a:latin typeface="Aptos Mono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2578608"/>
            <a:ext cx="502920" cy="36576"/>
          </a:xfrm>
          <a:prstGeom prst="rect">
            <a:avLst/>
          </a:prstGeom>
          <a:solidFill>
            <a:srgbClr val="FFB84D"/>
          </a:solidFill>
          <a:ln w="889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2816352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 Mono"/>
              </a:rPr>
              <a:t>AUTHENTICATE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24612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3B5CC"/>
                </a:solidFill>
                <a:latin typeface="Aptos"/>
              </a:rPr>
              <a:t>Owner + second identity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24728" y="3035808"/>
            <a:ext cx="256031" cy="0"/>
          </a:xfrm>
          <a:prstGeom prst="line">
            <a:avLst/>
          </a:prstGeom>
          <a:ln w="20320">
            <a:solidFill>
              <a:srgbClr val="FFB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17920" y="1965960"/>
            <a:ext cx="2331720" cy="21488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194560"/>
            <a:ext cx="3200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6633"/>
                </a:solidFill>
                <a:latin typeface="Aptos Mono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578608"/>
            <a:ext cx="502920" cy="36576"/>
          </a:xfrm>
          <a:prstGeom prst="rect">
            <a:avLst/>
          </a:prstGeom>
          <a:solidFill>
            <a:srgbClr val="FF66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816352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 Mono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4612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3B5CC"/>
                </a:solidFill>
                <a:latin typeface="Aptos"/>
              </a:rPr>
              <a:t>BOLA + exposure + bounded checks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13648" y="3035808"/>
            <a:ext cx="256032" cy="0"/>
          </a:xfrm>
          <a:prstGeom prst="line">
            <a:avLst/>
          </a:prstGeom>
          <a:ln w="20320">
            <a:solidFill>
              <a:srgbClr val="FF6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06840" y="1965960"/>
            <a:ext cx="2331720" cy="21488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19" y="2194560"/>
            <a:ext cx="3200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BD291"/>
                </a:solidFill>
                <a:latin typeface="Aptos Mono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19" y="2578608"/>
            <a:ext cx="502920" cy="36576"/>
          </a:xfrm>
          <a:prstGeom prst="rect">
            <a:avLst/>
          </a:prstGeom>
          <a:solidFill>
            <a:srgbClr val="4BD291"/>
          </a:solidFill>
          <a:ln w="8890"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19" y="2816352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 Mono"/>
              </a:rPr>
              <a:t>EXPLAIN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19" y="324612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3B5CC"/>
                </a:solidFill>
                <a:latin typeface="Aptos"/>
              </a:rPr>
              <a:t>Findings + PoC + AI guidance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09160"/>
            <a:ext cx="1005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46CFD6"/>
                </a:solidFill>
                <a:latin typeface="Aptos Mono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19379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A3B5CC"/>
                </a:solidFill>
                <a:latin typeface="Aptos Mono"/>
              </a:rPr>
              <a:t>endpoints in demo spec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709160"/>
            <a:ext cx="1005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FFB84D"/>
                </a:solidFill>
                <a:latin typeface="Aptos Mono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79" y="519379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A3B5CC"/>
                </a:solidFill>
                <a:latin typeface="Aptos Mono"/>
              </a:rPr>
              <a:t>identities compared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709160"/>
            <a:ext cx="1005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4BD291"/>
                </a:solidFill>
                <a:latin typeface="Aptos Mono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519379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A3B5CC"/>
                </a:solidFill>
                <a:latin typeface="Aptos Mono"/>
              </a:rPr>
              <a:t>secrets in result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709160"/>
            <a:ext cx="1005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FF6633"/>
                </a:solidFill>
                <a:latin typeface="Aptos Mono"/>
              </a:rPr>
              <a:t>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519379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A3B5CC"/>
                </a:solidFill>
                <a:latin typeface="Aptos Mono"/>
              </a:rPr>
              <a:t>prototype risk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6633"/>
                </a:solidFill>
                <a:latin typeface="Aptos Mono"/>
              </a:rPr>
              <a:t>03 • ARCHITECTURE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One control plane, two test identities, zero credential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88136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A3B5CC"/>
                </a:solidFill>
                <a:latin typeface="Aptos"/>
              </a:rPr>
              <a:t>Deployable as a static frontend + FastAPI backend + authorized target APIs.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97280" cy="41148"/>
          </a:xfrm>
          <a:prstGeom prst="rect">
            <a:avLst/>
          </a:prstGeom>
          <a:solidFill>
            <a:srgbClr val="FF66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A3B5CC"/>
                </a:solidFill>
                <a:latin typeface="Aptos Mono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60196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A3B5CC"/>
                </a:solidFill>
                <a:latin typeface="Aptos Mono"/>
              </a:rPr>
              <a:t>AMITYHACKS  •  API SECURITY  •  SENTINELAPI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601968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FFB84D"/>
                </a:solidFill>
                <a:latin typeface="Aptos Mono"/>
              </a:rPr>
              <a:t>AUTHORIZED SANDBOX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2743200" cy="416052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6633"/>
                </a:solidFill>
                <a:latin typeface="Aptos Mono"/>
              </a:rPr>
              <a:t>USER /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95728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Netlify static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34640"/>
            <a:ext cx="20116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3B5CC"/>
                </a:solidFill>
                <a:latin typeface="Aptos"/>
              </a:rPr>
              <a:t>Discovery form
Identity matrix
Findings workbench
AI report panel</a:t>
            </a:r>
          </a:p>
        </p:txBody>
      </p:sp>
      <p:sp>
        <p:nvSpPr>
          <p:cNvPr id="14" name="Pentagon 13"/>
          <p:cNvSpPr/>
          <p:nvPr/>
        </p:nvSpPr>
        <p:spPr>
          <a:xfrm>
            <a:off x="1600200" y="4389120"/>
            <a:ext cx="640080" cy="691286"/>
          </a:xfrm>
          <a:prstGeom prst="homePlate">
            <a:avLst/>
          </a:prstGeom>
          <a:solidFill>
            <a:srgbClr val="46CFD6"/>
          </a:solidFill>
          <a:ln>
            <a:solidFill>
              <a:srgbClr val="46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entagon 14"/>
          <p:cNvSpPr/>
          <p:nvPr/>
        </p:nvSpPr>
        <p:spPr>
          <a:xfrm>
            <a:off x="1702612" y="4491532"/>
            <a:ext cx="435254" cy="460857"/>
          </a:xfrm>
          <a:prstGeom prst="homePlate">
            <a:avLst/>
          </a:prstGeom>
          <a:solidFill>
            <a:srgbClr val="081223"/>
          </a:solidFill>
          <a:ln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73021" y="4574743"/>
            <a:ext cx="288036" cy="179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9" b="1" i="0">
                <a:solidFill>
                  <a:srgbClr val="46CFD6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5166360"/>
            <a:ext cx="1371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46CFD6"/>
                </a:solidFill>
                <a:latin typeface="Aptos Mono"/>
              </a:rPr>
              <a:t>HTTPS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1783080"/>
            <a:ext cx="4480560" cy="4160520"/>
          </a:xfrm>
          <a:prstGeom prst="roundRect">
            <a:avLst/>
          </a:prstGeom>
          <a:solidFill>
            <a:srgbClr val="16304E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0208" y="2011680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46CFD6"/>
                </a:solidFill>
                <a:latin typeface="Aptos Mono"/>
              </a:rPr>
              <a:t>SENTINELAPI CONTROL PLANE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9352" y="2468880"/>
            <a:ext cx="3749039" cy="512064"/>
          </a:xfrm>
          <a:prstGeom prst="roundRect">
            <a:avLst/>
          </a:prstGeom>
          <a:solidFill>
            <a:srgbClr val="08122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59352" y="2468880"/>
            <a:ext cx="64008" cy="512064"/>
          </a:xfrm>
          <a:prstGeom prst="roundRect">
            <a:avLst/>
          </a:prstGeom>
          <a:solidFill>
            <a:srgbClr val="46CFD6"/>
          </a:solidFill>
          <a:ln w="8890">
            <a:solidFill>
              <a:srgbClr val="46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2560320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Validate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2569464"/>
            <a:ext cx="187451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A3B5CC"/>
                </a:solidFill>
                <a:latin typeface="Aptos Mono"/>
              </a:rPr>
              <a:t>same-origin paths • SSRF guard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59352" y="3246120"/>
            <a:ext cx="3749039" cy="512064"/>
          </a:xfrm>
          <a:prstGeom prst="roundRect">
            <a:avLst/>
          </a:prstGeom>
          <a:solidFill>
            <a:srgbClr val="08122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59352" y="3246120"/>
            <a:ext cx="64008" cy="512064"/>
          </a:xfrm>
          <a:prstGeom prst="roundRect">
            <a:avLst/>
          </a:prstGeom>
          <a:solidFill>
            <a:srgbClr val="FFB84D"/>
          </a:solidFill>
          <a:ln w="889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3337560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Discover spec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3346703"/>
            <a:ext cx="187451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A3B5CC"/>
                </a:solidFill>
                <a:latin typeface="Aptos Mono"/>
              </a:rPr>
              <a:t>OpenAPI / Swagger parse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59352" y="4023360"/>
            <a:ext cx="3749039" cy="512064"/>
          </a:xfrm>
          <a:prstGeom prst="roundRect">
            <a:avLst/>
          </a:prstGeom>
          <a:solidFill>
            <a:srgbClr val="08122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959352" y="4023360"/>
            <a:ext cx="64008" cy="512064"/>
          </a:xfrm>
          <a:prstGeom prst="roundRect">
            <a:avLst/>
          </a:prstGeom>
          <a:solidFill>
            <a:srgbClr val="FF66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4114800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Execute scan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6128" y="4123944"/>
            <a:ext cx="187451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A3B5CC"/>
                </a:solidFill>
                <a:latin typeface="Aptos Mono"/>
              </a:rPr>
              <a:t>dual identity • bounded requests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59352" y="4800600"/>
            <a:ext cx="3749039" cy="512064"/>
          </a:xfrm>
          <a:prstGeom prst="roundRect">
            <a:avLst/>
          </a:prstGeom>
          <a:solidFill>
            <a:srgbClr val="08122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959352" y="4800600"/>
            <a:ext cx="64008" cy="512064"/>
          </a:xfrm>
          <a:prstGeom prst="roundRect">
            <a:avLst/>
          </a:prstGeom>
          <a:solidFill>
            <a:srgbClr val="4BD291"/>
          </a:solidFill>
          <a:ln w="8890"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4892040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Sanitize 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96128" y="4901184"/>
            <a:ext cx="187451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A3B5CC"/>
                </a:solidFill>
                <a:latin typeface="Aptos Mono"/>
              </a:rPr>
              <a:t>evidence • PoC • risk score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9640" y="1783080"/>
            <a:ext cx="3108960" cy="416052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51392" y="2011680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B84D"/>
                </a:solidFill>
                <a:latin typeface="Aptos Mono"/>
              </a:rPr>
              <a:t>AUTHORIZED TARGETS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680" y="2606040"/>
            <a:ext cx="2468880" cy="658368"/>
          </a:xfrm>
          <a:prstGeom prst="roundRect">
            <a:avLst/>
          </a:prstGeom>
          <a:solidFill>
            <a:srgbClr val="08122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2715768"/>
            <a:ext cx="2011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Vulnerable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848" y="2971800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F5B5B"/>
                </a:solidFill>
                <a:latin typeface="Aptos Mono"/>
              </a:rPr>
              <a:t>BOLA + data exposure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3657600"/>
            <a:ext cx="2468880" cy="658368"/>
          </a:xfrm>
          <a:prstGeom prst="roundRect">
            <a:avLst/>
          </a:prstGeom>
          <a:solidFill>
            <a:srgbClr val="08122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70848" y="3767328"/>
            <a:ext cx="2011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Secure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4023360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4BD291"/>
                </a:solidFill>
                <a:latin typeface="Aptos Mono"/>
              </a:rPr>
              <a:t>ownership enforced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4709160"/>
            <a:ext cx="2468880" cy="658368"/>
          </a:xfrm>
          <a:prstGeom prst="roundRect">
            <a:avLst/>
          </a:prstGeom>
          <a:solidFill>
            <a:srgbClr val="08122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70848" y="4818888"/>
            <a:ext cx="2011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Gemini (optional)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0848" y="5074920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B84D"/>
                </a:solidFill>
                <a:latin typeface="Aptos Mono"/>
              </a:rPr>
              <a:t>guidance only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273552" y="3749039"/>
            <a:ext cx="384048" cy="0"/>
          </a:xfrm>
          <a:prstGeom prst="line">
            <a:avLst/>
          </a:prstGeom>
          <a:ln w="25400">
            <a:solidFill>
              <a:srgbClr val="46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138160" y="3749039"/>
            <a:ext cx="411480" cy="0"/>
          </a:xfrm>
          <a:prstGeom prst="line">
            <a:avLst/>
          </a:prstGeom>
          <a:ln w="25400">
            <a:solidFill>
              <a:srgbClr val="FF6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229600" y="6062472"/>
            <a:ext cx="2468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 i="0">
                <a:solidFill>
                  <a:srgbClr val="A3B5CC"/>
                </a:solidFill>
                <a:latin typeface="Aptos Mono"/>
              </a:rPr>
              <a:t>sanitized scan result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6633"/>
                </a:solidFill>
                <a:latin typeface="Aptos Mono"/>
              </a:rPr>
              <a:t>04 • DETECTION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How SentinelAPI proves a BOLA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88136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A3B5CC"/>
                </a:solidFill>
                <a:latin typeface="Aptos"/>
              </a:rPr>
              <a:t>The same request, two identities, one authorization question.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97280" cy="41148"/>
          </a:xfrm>
          <a:prstGeom prst="rect">
            <a:avLst/>
          </a:prstGeom>
          <a:solidFill>
            <a:srgbClr val="FF66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A3B5CC"/>
                </a:solidFill>
                <a:latin typeface="Aptos Mono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60196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A3B5CC"/>
                </a:solidFill>
                <a:latin typeface="Aptos Mono"/>
              </a:rPr>
              <a:t>AMITYHACKS  •  API SECURITY  •  SENTINELAPI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601968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FFB84D"/>
                </a:solidFill>
                <a:latin typeface="Aptos Mono"/>
              </a:rPr>
              <a:t>AUTHORIZED SANDBOX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2788920" cy="324612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2084831"/>
            <a:ext cx="1600200" cy="256032"/>
          </a:xfrm>
          <a:prstGeom prst="roundRect">
            <a:avLst/>
          </a:prstGeom>
          <a:solidFill>
            <a:srgbClr val="FFB84D"/>
          </a:solidFill>
          <a:ln w="889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116836"/>
            <a:ext cx="1490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223"/>
                </a:solidFill>
                <a:latin typeface="Aptos Mono"/>
              </a:rPr>
              <a:t>IDENTITY A •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60604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B84D"/>
                </a:solidFill>
                <a:latin typeface="Aptos Mono"/>
              </a:rPr>
              <a:t>alice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54680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 Mono"/>
              </a:rPr>
              <a:t>GET /api/users/1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749039"/>
            <a:ext cx="20116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4BD291"/>
                </a:solidFill>
                <a:latin typeface="Aptos Mono"/>
              </a:rPr>
              <a:t>HTTP 200
resource 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4487" y="1828800"/>
            <a:ext cx="2788920" cy="324612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51376" y="2084831"/>
            <a:ext cx="1847088" cy="256032"/>
          </a:xfrm>
          <a:prstGeom prst="roundRect">
            <a:avLst/>
          </a:prstGeom>
          <a:solidFill>
            <a:srgbClr val="EF5B5B"/>
          </a:solidFill>
          <a:ln w="889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116836"/>
            <a:ext cx="1737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223"/>
                </a:solidFill>
                <a:latin typeface="Aptos Mono"/>
              </a:rPr>
              <a:t>IDENTITY B • ATTACKER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2606040"/>
            <a:ext cx="21945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EF5B5B"/>
                </a:solidFill>
                <a:latin typeface="Aptos Mono"/>
              </a:rPr>
              <a:t>bob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3154680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 Mono"/>
              </a:rPr>
              <a:t>GET /api/users/1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3749039"/>
            <a:ext cx="20116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F5B5B"/>
                </a:solidFill>
                <a:latin typeface="Aptos Mono"/>
              </a:rPr>
              <a:t>HTTP 200
same resource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29584" y="3456432"/>
            <a:ext cx="310896" cy="0"/>
          </a:xfrm>
          <a:prstGeom prst="line">
            <a:avLst/>
          </a:prstGeom>
          <a:ln w="25400">
            <a:solidFill>
              <a:srgbClr val="FF6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32320" y="1828800"/>
            <a:ext cx="4251960" cy="3246120"/>
          </a:xfrm>
          <a:prstGeom prst="roundRect">
            <a:avLst/>
          </a:prstGeom>
          <a:solidFill>
            <a:srgbClr val="0D1C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121408"/>
            <a:ext cx="1371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6633"/>
                </a:solidFill>
                <a:latin typeface="Aptos Mono"/>
              </a:rPr>
              <a:t>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542032"/>
            <a:ext cx="3291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5F8FC"/>
                </a:solidFill>
                <a:latin typeface="Aptos Mono"/>
              </a:rPr>
              <a:t>BOLA CONFIRMED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200400"/>
            <a:ext cx="32461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B84D"/>
                </a:solidFill>
                <a:latin typeface="Aptos Mono"/>
              </a:rPr>
              <a:t>resource_match = true
owner_status = 200
attacker_status = 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480560"/>
            <a:ext cx="32004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3B5CC"/>
                </a:solidFill>
                <a:latin typeface="Aptos"/>
              </a:rPr>
              <a:t>Evidence is deterministic.
AI never decides whether the bug exists.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623560"/>
            <a:ext cx="10241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A3B5CC"/>
                </a:solidFill>
                <a:latin typeface="Aptos Mono"/>
              </a:rPr>
              <a:t>Also checks: sensitive fields • status / rate-limit observations • safety abort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6633"/>
                </a:solidFill>
                <a:latin typeface="Aptos Mono"/>
              </a:rPr>
              <a:t>05 • DEMONSTRATION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Vulnerable target: a measurable risk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88136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A3B5CC"/>
                </a:solidFill>
                <a:latin typeface="Aptos"/>
              </a:rPr>
              <a:t>The hosted demo returns explainable findings—not just a red badge.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97280" cy="41148"/>
          </a:xfrm>
          <a:prstGeom prst="rect">
            <a:avLst/>
          </a:prstGeom>
          <a:solidFill>
            <a:srgbClr val="FF66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A3B5CC"/>
                </a:solidFill>
                <a:latin typeface="Aptos Mono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60196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A3B5CC"/>
                </a:solidFill>
                <a:latin typeface="Aptos Mono"/>
              </a:rPr>
              <a:t>AMITYHACKS  •  API SECURITY  •  SENTINELAPI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601968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FFB84D"/>
                </a:solidFill>
                <a:latin typeface="Aptos Mono"/>
              </a:rPr>
              <a:t>AUTHORIZED SANDBOX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2194560" cy="342900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48840"/>
            <a:ext cx="1691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A3B5CC"/>
                </a:solidFill>
                <a:latin typeface="Aptos Mono"/>
              </a:rPr>
              <a:t>PROTOTYPE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606040"/>
            <a:ext cx="16916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4500" b="1" i="0">
                <a:solidFill>
                  <a:srgbClr val="FF6633"/>
                </a:solidFill>
                <a:latin typeface="Aptos Mono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29000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A3B5CC"/>
                </a:solidFill>
                <a:latin typeface="Aptos Mono"/>
              </a:rPr>
              <a:t>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160520"/>
            <a:ext cx="1554480" cy="256032"/>
          </a:xfrm>
          <a:prstGeom prst="roundRect">
            <a:avLst/>
          </a:prstGeom>
          <a:solidFill>
            <a:srgbClr val="EF5B5B"/>
          </a:solidFill>
          <a:ln w="889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4192524"/>
            <a:ext cx="14447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81223"/>
                </a:solidFill>
                <a:latin typeface="Aptos Mono"/>
              </a:rPr>
              <a:t>2 HIGH FINDINGS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1828800"/>
            <a:ext cx="5120640" cy="12344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1828800"/>
            <a:ext cx="73152" cy="1234440"/>
          </a:xfrm>
          <a:prstGeom prst="roundRect">
            <a:avLst/>
          </a:prstGeom>
          <a:solidFill>
            <a:srgbClr val="EF5B5B"/>
          </a:solidFill>
          <a:ln w="889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2029968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F5B5B"/>
                </a:solidFill>
                <a:latin typeface="Aptos Mono"/>
              </a:rPr>
              <a:t>BOLA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359152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5F8FC"/>
                </a:solidFill>
                <a:latin typeface="Aptos"/>
              </a:rPr>
              <a:t>Second identity received the same protected resource.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29968"/>
            <a:ext cx="1600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A3B5CC"/>
                </a:solidFill>
                <a:latin typeface="Aptos Mono"/>
              </a:rPr>
              <a:t>HIGH confidence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383280"/>
            <a:ext cx="5120640" cy="12344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0400" y="3383280"/>
            <a:ext cx="73152" cy="1234440"/>
          </a:xfrm>
          <a:prstGeom prst="roundRect">
            <a:avLst/>
          </a:prstGeom>
          <a:solidFill>
            <a:srgbClr val="FFB84D"/>
          </a:solidFill>
          <a:ln w="889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3008" y="3584448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B84D"/>
                </a:solidFill>
                <a:latin typeface="Aptos Mono"/>
              </a:rPr>
              <a:t>EXCESSIVE DATA 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3913632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5F8FC"/>
                </a:solidFill>
                <a:latin typeface="Aptos"/>
              </a:rPr>
              <a:t>Response included passwordHash; review sensitive-field minimization.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84448"/>
            <a:ext cx="1600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A3B5CC"/>
                </a:solidFill>
                <a:latin typeface="Aptos Mono"/>
              </a:rPr>
              <a:t>MEDIUM confidence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1828800"/>
            <a:ext cx="2880360" cy="2788920"/>
          </a:xfrm>
          <a:prstGeom prst="roundRect">
            <a:avLst/>
          </a:prstGeom>
          <a:solidFill>
            <a:srgbClr val="0D1C33"/>
          </a:solidFill>
          <a:ln w="8890">
            <a:solidFill>
              <a:srgbClr val="46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2832" y="2130552"/>
            <a:ext cx="2103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6CFD6"/>
                </a:solidFill>
                <a:latin typeface="Aptos Mono"/>
              </a:rPr>
              <a:t>REPRODUCIBLE PoC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2633472"/>
            <a:ext cx="21031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 Mono"/>
              </a:rPr>
              <a:t>GET /api/users/1
Authorization: Bearer
&lt;REDACTED&gt;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3913632"/>
            <a:ext cx="21031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3B5CC"/>
                </a:solidFill>
                <a:latin typeface="Aptos"/>
              </a:rPr>
              <a:t>Secrets are intentionally
omitted from output.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5349240"/>
            <a:ext cx="7863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4BD291"/>
                </a:solidFill>
                <a:latin typeface="Aptos Mono"/>
              </a:rPr>
              <a:t>Secure target expectation → 0 vulnerabilities • score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6633"/>
                </a:solidFill>
                <a:latin typeface="Aptos Mono"/>
              </a:rPr>
              <a:t>06 •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AI explains the evidence; it does not invent the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88136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A3B5CC"/>
                </a:solidFill>
                <a:latin typeface="Aptos"/>
              </a:rPr>
              <a:t>A safe Student 3 extension point for reasoning and remediation guidance.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97280" cy="41148"/>
          </a:xfrm>
          <a:prstGeom prst="rect">
            <a:avLst/>
          </a:prstGeom>
          <a:solidFill>
            <a:srgbClr val="FF66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A3B5CC"/>
                </a:solidFill>
                <a:latin typeface="Aptos Mono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60196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A3B5CC"/>
                </a:solidFill>
                <a:latin typeface="Aptos Mono"/>
              </a:rPr>
              <a:t>AMITYHACKS  •  API SECURITY  •  SENTINELAPI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601968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FFB84D"/>
                </a:solidFill>
                <a:latin typeface="Aptos Mono"/>
              </a:rPr>
              <a:t>AUTHORIZED SANDBOX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3246120" cy="32918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2286000"/>
            <a:ext cx="497433" cy="402336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61872" y="2373782"/>
            <a:ext cx="351129" cy="314553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25296" y="2666390"/>
            <a:ext cx="29260" cy="160934"/>
          </a:xfrm>
          <a:prstGeom prst="rect">
            <a:avLst/>
          </a:prstGeom>
          <a:solidFill>
            <a:srgbClr val="FFB84D"/>
          </a:solidFill>
          <a:ln w="889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15491" y="2651760"/>
            <a:ext cx="29260" cy="175564"/>
          </a:xfrm>
          <a:prstGeom prst="rect">
            <a:avLst/>
          </a:prstGeom>
          <a:solidFill>
            <a:srgbClr val="FFB84D"/>
          </a:solidFill>
          <a:ln w="889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3622" y="2417673"/>
            <a:ext cx="58521" cy="36576"/>
          </a:xfrm>
          <a:prstGeom prst="roundRect">
            <a:avLst/>
          </a:prstGeom>
          <a:solidFill>
            <a:srgbClr val="081223"/>
          </a:solidFill>
          <a:ln w="8890"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83817" y="2373782"/>
            <a:ext cx="58521" cy="36576"/>
          </a:xfrm>
          <a:prstGeom prst="roundRect">
            <a:avLst/>
          </a:prstGeom>
          <a:solidFill>
            <a:srgbClr val="081223"/>
          </a:solidFill>
          <a:ln w="8890"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15491" y="2483510"/>
            <a:ext cx="58521" cy="36576"/>
          </a:xfrm>
          <a:prstGeom prst="roundRect">
            <a:avLst/>
          </a:prstGeom>
          <a:solidFill>
            <a:srgbClr val="081223"/>
          </a:solidFill>
          <a:ln w="8890"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88720" y="2549347"/>
            <a:ext cx="58521" cy="36576"/>
          </a:xfrm>
          <a:prstGeom prst="roundRect">
            <a:avLst/>
          </a:prstGeom>
          <a:solidFill>
            <a:srgbClr val="081223"/>
          </a:solidFill>
          <a:ln w="8890"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2221992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B84D"/>
                </a:solidFill>
                <a:latin typeface="Aptos Mono"/>
              </a:rPr>
              <a:t>AI RECEIVES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154680"/>
            <a:ext cx="2468880" cy="1325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sanitized findings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severity + confidence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evidence + statistics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redacted PoC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74519"/>
            <a:ext cx="3246120" cy="3291840"/>
          </a:xfrm>
          <a:prstGeom prst="roundRect">
            <a:avLst/>
          </a:prstGeom>
          <a:solidFill>
            <a:srgbClr val="16304E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entagon 21"/>
          <p:cNvSpPr/>
          <p:nvPr/>
        </p:nvSpPr>
        <p:spPr>
          <a:xfrm>
            <a:off x="4800600" y="2286000"/>
            <a:ext cx="731520" cy="790041"/>
          </a:xfrm>
          <a:prstGeom prst="homePlate">
            <a:avLst/>
          </a:prstGeom>
          <a:solidFill>
            <a:srgbClr val="46CFD6"/>
          </a:solidFill>
          <a:ln>
            <a:solidFill>
              <a:srgbClr val="46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entagon 22"/>
          <p:cNvSpPr/>
          <p:nvPr/>
        </p:nvSpPr>
        <p:spPr>
          <a:xfrm>
            <a:off x="4917643" y="2403043"/>
            <a:ext cx="497433" cy="526694"/>
          </a:xfrm>
          <a:prstGeom prst="homePlate">
            <a:avLst/>
          </a:prstGeom>
          <a:solidFill>
            <a:srgbClr val="081223"/>
          </a:solidFill>
          <a:ln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8110" y="2498140"/>
            <a:ext cx="329184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60" b="1" i="0">
                <a:solidFill>
                  <a:srgbClr val="46CFD6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2221992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46CFD6"/>
                </a:solidFill>
                <a:latin typeface="Aptos Mono"/>
              </a:rPr>
              <a:t>AI RETURNS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154680"/>
            <a:ext cx="2468880" cy="1325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root cause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missing control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implementation options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validation tests + limits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1874519"/>
            <a:ext cx="3246120" cy="3291840"/>
          </a:xfrm>
          <a:prstGeom prst="roundRect">
            <a:avLst/>
          </a:prstGeom>
          <a:solidFill>
            <a:srgbClr val="0D1C33"/>
          </a:solidFill>
          <a:ln w="889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2221992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F5B5B"/>
                </a:solidFill>
                <a:latin typeface="Aptos Mono"/>
              </a:rPr>
              <a:t>NEVER 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154680"/>
            <a:ext cx="2468880" cy="1325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passwords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bearer tokens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API keys</a:t>
            </a:r>
          </a:p>
          <a:p>
            <a:pPr>
              <a:spcAft>
                <a:spcPts val="5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blind deployable patches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77639" y="3429000"/>
            <a:ext cx="457201" cy="0"/>
          </a:xfrm>
          <a:prstGeom prst="line">
            <a:avLst/>
          </a:prstGeom>
          <a:ln w="25400">
            <a:solidFill>
              <a:srgbClr val="FFB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72400" y="3429000"/>
            <a:ext cx="457200" cy="0"/>
          </a:xfrm>
          <a:prstGeom prst="line">
            <a:avLst/>
          </a:prstGeom>
          <a:ln w="25400">
            <a:solidFill>
              <a:srgbClr val="46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26080" y="5596128"/>
            <a:ext cx="6309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 Mono"/>
              </a:rPr>
              <a:t>Developer review remains the final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6633"/>
                </a:solidFill>
                <a:latin typeface="Aptos Mono"/>
              </a:rPr>
              <a:t>07 • DEMO 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A clean 90-second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88136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A3B5CC"/>
                </a:solidFill>
                <a:latin typeface="Aptos"/>
              </a:rPr>
              <a:t>Use the same flow every time: vulnerable first, secure second.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97280" cy="41148"/>
          </a:xfrm>
          <a:prstGeom prst="rect">
            <a:avLst/>
          </a:prstGeom>
          <a:solidFill>
            <a:srgbClr val="FF66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A3B5CC"/>
                </a:solidFill>
                <a:latin typeface="Aptos Mono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60196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A3B5CC"/>
                </a:solidFill>
                <a:latin typeface="Aptos Mono"/>
              </a:rPr>
              <a:t>AMITYHACKS  •  API SECURITY  •  SENTINELAPI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601968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FFB84D"/>
                </a:solidFill>
                <a:latin typeface="Aptos Mono"/>
              </a:rPr>
              <a:t>AUTHORIZED SANDBOX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1874519" cy="21488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395728"/>
            <a:ext cx="2926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6CFD6"/>
                </a:solidFill>
                <a:latin typeface="Aptos Mono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" y="2788920"/>
            <a:ext cx="502920" cy="36576"/>
          </a:xfrm>
          <a:prstGeom prst="rect">
            <a:avLst/>
          </a:prstGeom>
          <a:solidFill>
            <a:srgbClr val="46CFD6"/>
          </a:solidFill>
          <a:ln w="8890">
            <a:solidFill>
              <a:srgbClr val="46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035808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 Mono"/>
              </a:rPr>
              <a:t>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502152"/>
            <a:ext cx="1554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3B5CC"/>
                </a:solidFill>
                <a:latin typeface="Aptos"/>
              </a:rPr>
              <a:t>Netlify dashboard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0320" y="3182112"/>
            <a:ext cx="292608" cy="0"/>
          </a:xfrm>
          <a:prstGeom prst="line">
            <a:avLst/>
          </a:prstGeom>
          <a:ln w="17780">
            <a:solidFill>
              <a:srgbClr val="46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07791" y="2148840"/>
            <a:ext cx="1874519" cy="21488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72384" y="2395728"/>
            <a:ext cx="2926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B84D"/>
                </a:solidFill>
                <a:latin typeface="Aptos Mono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72384" y="2788920"/>
            <a:ext cx="502920" cy="36576"/>
          </a:xfrm>
          <a:prstGeom prst="rect">
            <a:avLst/>
          </a:prstGeom>
          <a:solidFill>
            <a:srgbClr val="FFB84D"/>
          </a:solidFill>
          <a:ln w="889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72384" y="3035808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 Mono"/>
              </a:rPr>
              <a:t>INGEST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2384" y="3502152"/>
            <a:ext cx="1554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3B5CC"/>
                </a:solidFill>
                <a:latin typeface="Aptos"/>
              </a:rPr>
              <a:t>Paste /v3/api-docs URL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28031" y="3182112"/>
            <a:ext cx="292609" cy="0"/>
          </a:xfrm>
          <a:prstGeom prst="line">
            <a:avLst/>
          </a:prstGeom>
          <a:ln w="17780">
            <a:solidFill>
              <a:srgbClr val="FFB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75504" y="2148840"/>
            <a:ext cx="1874519" cy="21488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0096" y="2395728"/>
            <a:ext cx="2926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6633"/>
                </a:solidFill>
                <a:latin typeface="Aptos Mono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0096" y="2788920"/>
            <a:ext cx="502920" cy="36576"/>
          </a:xfrm>
          <a:prstGeom prst="rect">
            <a:avLst/>
          </a:prstGeom>
          <a:solidFill>
            <a:srgbClr val="FF66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0096" y="3035808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 Mono"/>
              </a:rPr>
              <a:t>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3502152"/>
            <a:ext cx="1554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3B5CC"/>
                </a:solidFill>
                <a:latin typeface="Aptos"/>
              </a:rPr>
              <a:t>alice vs bob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95744" y="3182112"/>
            <a:ext cx="292608" cy="0"/>
          </a:xfrm>
          <a:prstGeom prst="line">
            <a:avLst/>
          </a:prstGeom>
          <a:ln w="17780">
            <a:solidFill>
              <a:srgbClr val="FF6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43215" y="2148840"/>
            <a:ext cx="1874519" cy="21488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07807" y="2395728"/>
            <a:ext cx="2926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F5B5B"/>
                </a:solidFill>
                <a:latin typeface="Aptos Mono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07807" y="2788920"/>
            <a:ext cx="502920" cy="36576"/>
          </a:xfrm>
          <a:prstGeom prst="rect">
            <a:avLst/>
          </a:prstGeom>
          <a:solidFill>
            <a:srgbClr val="EF5B5B"/>
          </a:solidFill>
          <a:ln w="889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7807" y="3035808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 Mono"/>
              </a:rPr>
              <a:t>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7" y="3502152"/>
            <a:ext cx="1554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3B5CC"/>
                </a:solidFill>
                <a:latin typeface="Aptos"/>
              </a:rPr>
              <a:t>Review BOLA + PoC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63455" y="3182112"/>
            <a:ext cx="292608" cy="0"/>
          </a:xfrm>
          <a:prstGeom prst="line">
            <a:avLst/>
          </a:prstGeom>
          <a:ln w="17780">
            <a:solidFill>
              <a:srgbClr val="EF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710928" y="2148840"/>
            <a:ext cx="1874519" cy="214884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19" y="2395728"/>
            <a:ext cx="2926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BD291"/>
                </a:solidFill>
                <a:latin typeface="Aptos Mono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19" y="2788920"/>
            <a:ext cx="502920" cy="36576"/>
          </a:xfrm>
          <a:prstGeom prst="rect">
            <a:avLst/>
          </a:prstGeom>
          <a:solidFill>
            <a:srgbClr val="4BD291"/>
          </a:solidFill>
          <a:ln w="8890"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19" y="3035808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 Mono"/>
              </a:rPr>
              <a:t>VERIFY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19" y="3502152"/>
            <a:ext cx="1554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A3B5CC"/>
                </a:solidFill>
                <a:latin typeface="Aptos"/>
              </a:rPr>
              <a:t>Secure API → clean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" y="4892040"/>
            <a:ext cx="9875520" cy="685800"/>
          </a:xfrm>
          <a:prstGeom prst="roundRect">
            <a:avLst/>
          </a:prstGeom>
          <a:solidFill>
            <a:srgbClr val="0D1C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17320" y="5093208"/>
            <a:ext cx="9326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 Mono"/>
              </a:rPr>
              <a:t>Vulnerable: 2 findings / score 40     →     Secure: 0 findings / score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6633"/>
                </a:solidFill>
                <a:latin typeface="Aptos Mono"/>
              </a:rPr>
              <a:t>08 •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From laptop prototype to a hosted, judge-ready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88136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A3B5CC"/>
                </a:solidFill>
                <a:latin typeface="Aptos"/>
              </a:rPr>
              <a:t>Every component has a small, explicit responsibility.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97280" cy="41148"/>
          </a:xfrm>
          <a:prstGeom prst="rect">
            <a:avLst/>
          </a:prstGeom>
          <a:solidFill>
            <a:srgbClr val="FF66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A3B5CC"/>
                </a:solidFill>
                <a:latin typeface="Aptos Mono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60196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A3B5CC"/>
                </a:solidFill>
                <a:latin typeface="Aptos Mono"/>
              </a:rPr>
              <a:t>AMITYHACKS  •  API SECURITY  •  SENTINELAPI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601968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FFB84D"/>
                </a:solidFill>
                <a:latin typeface="Aptos Mono"/>
              </a:rPr>
              <a:t>AUTHORIZED SANDBOX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783080"/>
            <a:ext cx="10241280" cy="713232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783080"/>
            <a:ext cx="91440" cy="713232"/>
          </a:xfrm>
          <a:prstGeom prst="roundRect">
            <a:avLst/>
          </a:prstGeom>
          <a:solidFill>
            <a:srgbClr val="46CFD6"/>
          </a:solidFill>
          <a:ln w="8890">
            <a:solidFill>
              <a:srgbClr val="46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1938528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CFD6"/>
                </a:solidFill>
                <a:latin typeface="Aptos Mono"/>
              </a:rPr>
              <a:t>NETLIFY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901952"/>
            <a:ext cx="33832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Static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929384"/>
            <a:ext cx="3886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3B5CC"/>
                </a:solidFill>
                <a:latin typeface="Aptos Mono"/>
              </a:rPr>
              <a:t>frontend/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0" y="2514600"/>
            <a:ext cx="0" cy="210312"/>
          </a:xfrm>
          <a:prstGeom prst="line">
            <a:avLst/>
          </a:prstGeom>
          <a:ln w="12700">
            <a:solidFill>
              <a:srgbClr val="304E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" y="2743200"/>
            <a:ext cx="10241280" cy="713232"/>
          </a:xfrm>
          <a:prstGeom prst="roundRect">
            <a:avLst/>
          </a:prstGeom>
          <a:solidFill>
            <a:srgbClr val="16304E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2743200"/>
            <a:ext cx="91440" cy="713232"/>
          </a:xfrm>
          <a:prstGeom prst="roundRect">
            <a:avLst/>
          </a:prstGeom>
          <a:solidFill>
            <a:srgbClr val="FF6633"/>
          </a:solidFill>
          <a:ln w="8890"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898648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6633"/>
                </a:solidFill>
                <a:latin typeface="Aptos Mono"/>
              </a:rPr>
              <a:t>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862072"/>
            <a:ext cx="33832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FastAPI control plane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889504"/>
            <a:ext cx="3886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3B5CC"/>
                </a:solidFill>
                <a:latin typeface="Aptos Mono"/>
              </a:rPr>
              <a:t>backend/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3474720"/>
            <a:ext cx="0" cy="210312"/>
          </a:xfrm>
          <a:prstGeom prst="line">
            <a:avLst/>
          </a:prstGeom>
          <a:ln w="12700">
            <a:solidFill>
              <a:srgbClr val="304E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0120" y="3703320"/>
            <a:ext cx="10241280" cy="713232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" y="3703320"/>
            <a:ext cx="91440" cy="713232"/>
          </a:xfrm>
          <a:prstGeom prst="roundRect">
            <a:avLst/>
          </a:prstGeom>
          <a:solidFill>
            <a:srgbClr val="FFB84D"/>
          </a:solidFill>
          <a:ln w="889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858768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B84D"/>
                </a:solidFill>
                <a:latin typeface="Aptos Mono"/>
              </a:rPr>
              <a:t>RENDER ×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822191"/>
            <a:ext cx="33832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Spring Boot targets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849624"/>
            <a:ext cx="3886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3B5CC"/>
                </a:solidFill>
                <a:latin typeface="Aptos Mono"/>
              </a:rPr>
              <a:t>targets/vulnerable-api • targets/secure-api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0" y="4434840"/>
            <a:ext cx="0" cy="210312"/>
          </a:xfrm>
          <a:prstGeom prst="line">
            <a:avLst/>
          </a:prstGeom>
          <a:ln w="12700">
            <a:solidFill>
              <a:srgbClr val="304E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60120" y="4663440"/>
            <a:ext cx="10241280" cy="713232"/>
          </a:xfrm>
          <a:prstGeom prst="roundRect">
            <a:avLst/>
          </a:prstGeom>
          <a:solidFill>
            <a:srgbClr val="16304E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" y="4663440"/>
            <a:ext cx="91440" cy="713232"/>
          </a:xfrm>
          <a:prstGeom prst="roundRect">
            <a:avLst/>
          </a:prstGeom>
          <a:solidFill>
            <a:srgbClr val="4BD291"/>
          </a:solidFill>
          <a:ln w="8890"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818888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BD291"/>
                </a:solidFill>
                <a:latin typeface="Aptos Mono"/>
              </a:rPr>
              <a:t>AIVEN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782312"/>
            <a:ext cx="33832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MySQL demo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809744"/>
            <a:ext cx="3886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3B5CC"/>
                </a:solidFill>
                <a:latin typeface="Aptos Mono"/>
              </a:rPr>
              <a:t>DB_URL • DB_USERNAME • DB_PASSWORD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806440"/>
            <a:ext cx="1371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6633"/>
                </a:solidFill>
                <a:latin typeface="Aptos Mono"/>
              </a:rPr>
              <a:t>Security defaults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5788152"/>
            <a:ext cx="8961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3B5CC"/>
                </a:solidFill>
                <a:latin typeface="Aptos"/>
              </a:rPr>
              <a:t>HTTPS • private targets disabled • secrets in platform env only • authorized targets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40233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6633"/>
                </a:solidFill>
                <a:latin typeface="Aptos Mono"/>
              </a:rPr>
              <a:t>SENTINELAPI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621792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F5F8FC"/>
                </a:solidFill>
                <a:latin typeface="Aptos"/>
              </a:rPr>
              <a:t>Make API security
observable.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743200"/>
            <a:ext cx="60350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A3B5CC"/>
                </a:solidFill>
                <a:latin typeface="Aptos"/>
              </a:rPr>
              <a:t>A practical, evidence-first path from runtime behavior
to a developer-ready remediation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977639"/>
            <a:ext cx="5440680" cy="105156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224528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6CFD6"/>
                </a:solidFill>
                <a:latin typeface="Aptos Mono"/>
              </a:rPr>
              <a:t>THE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4663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Find the broken boundary. Prove it. Fix it safely.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914400"/>
            <a:ext cx="3611880" cy="4526280"/>
          </a:xfrm>
          <a:prstGeom prst="roundRect">
            <a:avLst/>
          </a:prstGeom>
          <a:solidFill>
            <a:srgbClr val="122743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22208" y="1463040"/>
            <a:ext cx="1417320" cy="1417320"/>
          </a:xfrm>
          <a:prstGeom prst="ellipse">
            <a:avLst/>
          </a:prstGeom>
          <a:solidFill>
            <a:srgbClr val="FF6633"/>
          </a:solidFill>
          <a:ln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49766" y="1590598"/>
            <a:ext cx="1162202" cy="1162202"/>
          </a:xfrm>
          <a:prstGeom prst="ellipse">
            <a:avLst/>
          </a:prstGeom>
          <a:solidFill>
            <a:srgbClr val="081223"/>
          </a:solidFill>
          <a:ln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7325" y="1718157"/>
            <a:ext cx="907084" cy="907084"/>
          </a:xfrm>
          <a:prstGeom prst="ellipse">
            <a:avLst/>
          </a:prstGeom>
          <a:solidFill>
            <a:srgbClr val="FF6633"/>
          </a:solidFill>
          <a:ln>
            <a:solidFill>
              <a:srgbClr val="FF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90711" y="1831543"/>
            <a:ext cx="680313" cy="680313"/>
          </a:xfrm>
          <a:prstGeom prst="ellipse">
            <a:avLst/>
          </a:prstGeom>
          <a:solidFill>
            <a:srgbClr val="081223"/>
          </a:solidFill>
          <a:ln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entagon 12"/>
          <p:cNvSpPr/>
          <p:nvPr/>
        </p:nvSpPr>
        <p:spPr>
          <a:xfrm>
            <a:off x="9372600" y="2999232"/>
            <a:ext cx="868680" cy="938174"/>
          </a:xfrm>
          <a:prstGeom prst="homePlate">
            <a:avLst/>
          </a:prstGeom>
          <a:solidFill>
            <a:srgbClr val="46CFD6"/>
          </a:solidFill>
          <a:ln>
            <a:solidFill>
              <a:srgbClr val="46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entagon 13"/>
          <p:cNvSpPr/>
          <p:nvPr/>
        </p:nvSpPr>
        <p:spPr>
          <a:xfrm>
            <a:off x="9511588" y="3138220"/>
            <a:ext cx="590702" cy="625449"/>
          </a:xfrm>
          <a:prstGeom prst="homePlate">
            <a:avLst/>
          </a:prstGeom>
          <a:solidFill>
            <a:srgbClr val="081223"/>
          </a:solidFill>
          <a:ln>
            <a:solidFill>
              <a:srgbClr val="0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7143" y="3251149"/>
            <a:ext cx="390906" cy="243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14" b="1" i="0">
                <a:solidFill>
                  <a:srgbClr val="46CFD6"/>
                </a:solidFill>
                <a:latin typeface="Aptos"/>
              </a:rPr>
              <a:t>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35440" y="2779776"/>
            <a:ext cx="347472" cy="283464"/>
          </a:xfrm>
          <a:prstGeom prst="line">
            <a:avLst/>
          </a:prstGeom>
          <a:ln w="25400">
            <a:solidFill>
              <a:srgbClr val="46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01000" y="4389120"/>
            <a:ext cx="2514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4BD291"/>
                </a:solidFill>
                <a:latin typeface="Aptos Mono"/>
              </a:rPr>
              <a:t>DEMO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773168"/>
            <a:ext cx="2697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B84D"/>
                </a:solidFill>
                <a:latin typeface="Aptos Mono"/>
              </a:rPr>
              <a:t>VULNERABLE → SECURE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Thank you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304E70"/>
          </a:solidFill>
          <a:ln w="8890">
            <a:solidFill>
              <a:srgbClr val="30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60196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A3B5CC"/>
                </a:solidFill>
                <a:latin typeface="Aptos Mono"/>
              </a:rPr>
              <a:t>AMITYHACKS  •  SENTINELAPI  •  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601968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FFB84D"/>
                </a:solidFill>
                <a:latin typeface="Aptos Mono"/>
              </a:rPr>
              <a:t>AUTHORIZED SANDBOX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SentinelAPI — AmityHacks Demonstration</dc:title>
  <dc:subject>Evidence-first API security scanner architecture and demo workflow</dc:subject>
  <dc:creator>SentinelAPI Team</dc:creator>
  <cp:keywords>AmityHacks, API security, BOLA, OpenAPI, FastAPI, Spring Boot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